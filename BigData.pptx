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35" d="100"/>
          <a:sy n="135" d="100"/>
        </p:scale>
        <p:origin x="10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de-CH" sz="1800" b="0" i="0" u="none" strike="noStrike">
                <a:solidFill>
                  <a:srgbClr val="000000"/>
                </a:solidFill>
                <a:latin typeface="Arial"/>
              </a:rPr>
              <a:t>Precision / Recall / F1 pro Feld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1A7A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winner</c:v>
                </c:pt>
                <c:pt idx="1">
                  <c:v>victory_status</c:v>
                </c:pt>
                <c:pt idx="2">
                  <c:v>white_rating</c:v>
                </c:pt>
                <c:pt idx="3">
                  <c:v>black_rating</c:v>
                </c:pt>
                <c:pt idx="4">
                  <c:v>opening_name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0.496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0.93500000000000005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7A-4BE4-A391-4A46FE4FA25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winner</c:v>
                </c:pt>
                <c:pt idx="1">
                  <c:v>victory_status</c:v>
                </c:pt>
                <c:pt idx="2">
                  <c:v>white_rating</c:v>
                </c:pt>
                <c:pt idx="3">
                  <c:v>black_rating</c:v>
                </c:pt>
                <c:pt idx="4">
                  <c:v>opening_name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0.98499999999999999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7A-4BE4-A391-4A46FE4FA25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F0C04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winner</c:v>
                </c:pt>
                <c:pt idx="1">
                  <c:v>victory_status</c:v>
                </c:pt>
                <c:pt idx="2">
                  <c:v>white_rating</c:v>
                </c:pt>
                <c:pt idx="3">
                  <c:v>black_rating</c:v>
                </c:pt>
                <c:pt idx="4">
                  <c:v>opening_name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0.66300000000000003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0.96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E7A-4BE4-A391-4A46FE4FA25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de-CH" sz="1800" b="0" i="0" u="none" strike="noStrike">
                <a:solidFill>
                  <a:srgbClr val="000000"/>
                </a:solidFill>
                <a:latin typeface="Arial"/>
              </a:rPr>
              <a:t>Reparaturgenauigkeit pro Feld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RepairAcc</c:v>
                </c:pt>
              </c:strCache>
            </c:strRef>
          </c:tx>
          <c:spPr>
            <a:solidFill>
              <a:srgbClr val="D6891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winner</c:v>
                </c:pt>
                <c:pt idx="1">
                  <c:v>victory_status</c:v>
                </c:pt>
                <c:pt idx="2">
                  <c:v>white_rating</c:v>
                </c:pt>
                <c:pt idx="3">
                  <c:v>black_rating</c:v>
                </c:pt>
                <c:pt idx="4">
                  <c:v>opening_name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0.90500000000000003</c:v>
                </c:pt>
                <c:pt idx="2">
                  <c:v>0</c:v>
                </c:pt>
                <c:pt idx="3">
                  <c:v>0</c:v>
                </c:pt>
                <c:pt idx="4">
                  <c:v>0.86799999999999999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2A-41DD-99E2-0DE3D7D5FE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5063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754112" y="0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Shape 2"/>
          <p:cNvSpPr/>
          <p:nvPr/>
        </p:nvSpPr>
        <p:spPr>
          <a:xfrm>
            <a:off x="8101584" y="0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Shape 3"/>
          <p:cNvSpPr/>
          <p:nvPr/>
        </p:nvSpPr>
        <p:spPr>
          <a:xfrm>
            <a:off x="8449056" y="0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8796528" y="0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Shape 7"/>
          <p:cNvSpPr/>
          <p:nvPr/>
        </p:nvSpPr>
        <p:spPr>
          <a:xfrm>
            <a:off x="8101584" y="347472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8449056" y="347472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8796528" y="347472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Shape 11"/>
          <p:cNvSpPr/>
          <p:nvPr/>
        </p:nvSpPr>
        <p:spPr>
          <a:xfrm>
            <a:off x="7754112" y="694944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Shape 13"/>
          <p:cNvSpPr/>
          <p:nvPr/>
        </p:nvSpPr>
        <p:spPr>
          <a:xfrm>
            <a:off x="8449056" y="694944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Shape 14"/>
          <p:cNvSpPr/>
          <p:nvPr/>
        </p:nvSpPr>
        <p:spPr>
          <a:xfrm>
            <a:off x="8796528" y="694944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Shape 17"/>
          <p:cNvSpPr/>
          <p:nvPr/>
        </p:nvSpPr>
        <p:spPr>
          <a:xfrm>
            <a:off x="8101584" y="1042416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Shape 19"/>
          <p:cNvSpPr/>
          <p:nvPr/>
        </p:nvSpPr>
        <p:spPr>
          <a:xfrm>
            <a:off x="8796528" y="1042416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7" name="Shape 25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8" name="Text 26"/>
          <p:cNvSpPr/>
          <p:nvPr/>
        </p:nvSpPr>
        <p:spPr>
          <a:xfrm>
            <a:off x="640080" y="9144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PROJEKT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137160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Pipeline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chess_games</a:t>
            </a:r>
            <a:endParaRPr lang="en-US" sz="3800" dirty="0"/>
          </a:p>
        </p:txBody>
      </p:sp>
      <p:sp>
        <p:nvSpPr>
          <p:cNvPr id="30" name="Text 28"/>
          <p:cNvSpPr/>
          <p:nvPr/>
        </p:nvSpPr>
        <p:spPr>
          <a:xfrm>
            <a:off x="640080" y="2880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/ Silver / Gold  ·  Quality Assessment  ·  Databricks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4297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Emmanuel Amatobi  ·  Philipp Eglin  ·  Andri Schneider 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4617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IE2 FS26 – Projekt 2  ·  ZHAW School of Engineering  ·  24.05.2026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ÜBERSICHT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457200" cy="38404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0972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Datensatz &amp; Feldauswahl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37160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chess_games (ZHAW Benchmark) – 5 Fehlerspalten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691640"/>
            <a:ext cx="457200" cy="38404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502920" y="16916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16459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Pipeline-Architektur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192024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Gold mit Shadow-Columns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240280"/>
            <a:ext cx="457200" cy="38404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502920" y="2240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1945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Cleansing-Ansatz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46888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· victory_status · white_rating · opening_name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788920"/>
            <a:ext cx="457200" cy="38404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502920" y="27889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743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Ergebnisse &amp; KPIs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01752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5-Kategorien-Matrix  ·  Precision / Recall / F1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337560"/>
            <a:ext cx="457200" cy="38404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Text 20"/>
          <p:cNvSpPr/>
          <p:nvPr/>
        </p:nvSpPr>
        <p:spPr>
          <a:xfrm>
            <a:off x="502920" y="33375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32918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Iterations-Log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356616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Iterationen – Entwicklung der Qualitätskennzahlen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3886200"/>
            <a:ext cx="457200" cy="38404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6" name="Text 24"/>
          <p:cNvSpPr/>
          <p:nvPr/>
        </p:nvSpPr>
        <p:spPr>
          <a:xfrm>
            <a:off x="502920" y="38862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38404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lösbare Fälle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411480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Strukturelle Grenzen und ehrliche FN-Dokumentation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4434840"/>
            <a:ext cx="457200" cy="38404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0" name="Text 28"/>
          <p:cNvSpPr/>
          <p:nvPr/>
        </p:nvSpPr>
        <p:spPr>
          <a:xfrm>
            <a:off x="502920" y="44348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07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51560" y="43891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51560" y="466344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 &amp; wichtigste Erkenntnisse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DATENSATZ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Datensatz: chess_games (ZHAW Benchmark)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920240" cy="9144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20'058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8470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Zeilen gesamt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09728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2560320" y="1097280"/>
            <a:ext cx="1920240" cy="914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256032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60320" y="18470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Spalten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09728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4" name="Shape 12"/>
          <p:cNvSpPr/>
          <p:nvPr/>
        </p:nvSpPr>
        <p:spPr>
          <a:xfrm>
            <a:off x="4617720" y="1097280"/>
            <a:ext cx="1920240" cy="9144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461772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17720" y="18470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Fehlerrate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109728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8" name="Shape 16"/>
          <p:cNvSpPr/>
          <p:nvPr/>
        </p:nvSpPr>
        <p:spPr>
          <a:xfrm>
            <a:off x="6675120" y="1097280"/>
            <a:ext cx="1920240" cy="914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/>
          <p:nvPr/>
        </p:nvSpPr>
        <p:spPr>
          <a:xfrm>
            <a:off x="667512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 MB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675120" y="18470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Grösse (dirty)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31720"/>
          <a:ext cx="8138160" cy="24688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Feld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Fehlertyp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Anzahl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Analysiert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opening_name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Tippfehler (Typo)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3'080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winner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Fehlender Wert (MV)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1'995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victory_status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Ungültiger Wert (IV)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1'994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black_rating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Ungültiger / Falscher Wert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1'484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</a:rPr>
                        <a:t>✓ (Bonus)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white_rating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Ungültiger / Falscher Wert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1'446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502920" y="4828032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Hinweis: id-Spalte hat 945 Duplikate → positionsbasierte row_id via monotonically_increasing_id()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ARCHITEKTUR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448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Pipeline – Architektur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5603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BRONZE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9A"/>
                </a:solidFill>
              </a:rPr>
              <a:t>Roh-Ingest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560320" cy="45720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3246120" y="1005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SILVER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4612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9A"/>
                </a:solidFill>
              </a:rPr>
              <a:t>Typisiert &amp; bereinigt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560320" cy="4572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6126480" y="1005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GOLD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2648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9A"/>
                </a:solidFill>
              </a:rPr>
              <a:t>Business Layer &amp; KPIs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0" y="1234440"/>
            <a:ext cx="320040" cy="0"/>
          </a:xfrm>
          <a:prstGeom prst="line">
            <a:avLst/>
          </a:prstGeom>
          <a:noFill/>
          <a:ln w="25400">
            <a:solidFill>
              <a:srgbClr val="7F8C9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3063942" y="10968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8C9A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06440" y="1234440"/>
            <a:ext cx="320040" cy="0"/>
          </a:xfrm>
          <a:prstGeom prst="line">
            <a:avLst/>
          </a:prstGeom>
          <a:noFill/>
          <a:ln w="25400">
            <a:solidFill>
              <a:srgbClr val="7F8C9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5948991" y="10968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8C9A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1828800"/>
            <a:ext cx="2560320" cy="3063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/>
          <p:nvPr/>
        </p:nvSpPr>
        <p:spPr>
          <a:xfrm>
            <a:off x="457200" y="1874520"/>
            <a:ext cx="23774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clean_bronze: sauberes CSV + row_id + _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ingest_ts</a:t>
            </a:r>
            <a:endParaRPr lang="en-US" sz="9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dirty_bronze: fehlerhaftes CSV + row_id + _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ingest_ts</a:t>
            </a:r>
            <a:endParaRPr lang="en-US" sz="9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Spalten als STRING (keine 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Typkonvertierung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342900" indent="-342900">
              <a:buSzPct val="100000"/>
              <a:buChar char="•"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– Bronze wird nie verändert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1828800"/>
            <a:ext cx="2560320" cy="3063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3337560" y="1874520"/>
            <a:ext cx="23774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clean_silver: nur Typkonvertierung (kein Cleansing)</a:t>
            </a:r>
          </a:p>
          <a:p>
            <a:pPr marL="342900" indent="-342900">
              <a:buSzPct val="100000"/>
              <a:buChar char="•"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dirty_silver: Typkonvertierung + Cleansing-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Funktionen</a:t>
            </a:r>
            <a:endParaRPr lang="en-US" sz="9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Shadow-Columns: X_original (Wert vor 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Bereinigung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342900" indent="-342900">
              <a:buSzPct val="100000"/>
              <a:buChar char="•"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Analysierte Felder: winner, victory_status, white_rating, opening_name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26480" y="1828800"/>
            <a:ext cx="2560320" cy="3063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3" name="Text 21"/>
          <p:cNvSpPr/>
          <p:nvPr/>
        </p:nvSpPr>
        <p:spPr>
          <a:xfrm>
            <a:off x="6217920" y="1874520"/>
            <a:ext cx="23774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über row_id → apples-to-apples 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</a:t>
            </a:r>
            <a:endParaRPr lang="en-US" sz="95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Zellen-Klassifikation: TP-hit / TP-miss / FN / TN / FP</a:t>
            </a:r>
          </a:p>
          <a:p>
            <a:pPr marL="342900" indent="-342900">
              <a:buSzPct val="100000"/>
              <a:buChar char="•"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Precision, Recall, F1, RepairAcc, FP-Rate</a:t>
            </a:r>
          </a:p>
          <a:p>
            <a:pPr marL="342900" indent="-342900">
              <a:buSzPct val="100000"/>
              <a:buChar char="•"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Iterations-Log nach jeder Regelverfeinerung ergänzt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CLEANSING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Feld: winner — Fehlender Wert (1'995 Fehler)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457200" cy="10972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126187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Schachmatterkennung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536192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moves auf '#' endet → Sieger aus Zugparität ableiten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(turns ungerade → 'white', turns gerade → 'black')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Deterministische Regel, sehr zuverlässig.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42316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502920" y="2423160"/>
            <a:ext cx="457200" cy="109728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502920" y="242316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51560" y="249631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Remis-Auflösung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770632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victory_status == 'draw' → winner = 'draw'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906 / 906 Remis-Partien vollständig aufgelöst.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Spaltenübergreifende Logik, eindeutig.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6576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6" name="Shape 14"/>
          <p:cNvSpPr/>
          <p:nvPr/>
        </p:nvSpPr>
        <p:spPr>
          <a:xfrm>
            <a:off x="502920" y="3657600"/>
            <a:ext cx="457200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502920" y="365760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51560" y="373075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auflösbare Fälle (FN)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4005072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resign / outoftime: Sieger ist aus den Spieldaten NICHT ableitbar.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1'005 Fälle bleiben als FN. Zusätzlich 44 Remis-Partien mit Status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'outoftime' – ebenfalls nicht lösbar. Ehrlich als FN gemeldet.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Shadow-Column winner_original sichert den Rohwert vor dem Cleansing. clean_winner() ist unabhängig von clean_victory_status().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CLEANSING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Feld: victory_status — Ungültiger Wert (1'994 Fehler)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37947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Erkennungs- und Reparaturlogik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204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Gültige Werte: 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 · resign · outoftime · draw
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Fehlerwert im Dirty-Datensatz: 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'regicide' (ungültig)
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Reparatur – 3 Stufen:
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moves endet auf '#'  →  'mate'  (623 Fälle)
② winner_original == 'draw'  →  'draw'  (82 Fälle)
③ sonst  →  'resign' (Mehrheitsschätzung)
   resign ≈6'400  vs  outoftime ≈1'700
</a:t>
            </a:r>
            <a:r>
              <a:rPr lang="en-US" sz="105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Verwendet winner_original (nicht den bereinigten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winner) → beide Felder bleiben unabhängig.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1143000"/>
            <a:ext cx="42519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4617720" y="12344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Ergebnis-Übersicht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17720" y="1691640"/>
            <a:ext cx="1005840" cy="5029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4617720" y="16916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623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0" y="17647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Schachmatt → 'mate'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2425509"/>
            <a:ext cx="1005840" cy="50292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4617720" y="242550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82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0" y="2498661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Remis → 'draw'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3248469"/>
            <a:ext cx="1005840" cy="502920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4617720" y="3257847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1'289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15000" y="3321621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Mehrheitsschätz. → 'resign'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4071429"/>
            <a:ext cx="100584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Text 18"/>
          <p:cNvSpPr/>
          <p:nvPr/>
        </p:nvSpPr>
        <p:spPr>
          <a:xfrm>
            <a:off x="4617720" y="4080807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0" y="4144581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erkannt (FN)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17719" y="4661097"/>
            <a:ext cx="4057357" cy="179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TP-miss erwartet bei resign/outoftime-Verwechslung.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RepairAcc &lt; 1.0 ist dokumentiert und begründet.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CLEANSING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422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Felder: white_rating &amp; black_rating — Ungültige / Falsche Werte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397764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397764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white_rating  (1'446 Fehler)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536192"/>
            <a:ext cx="37033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Erkennung:
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Fehlerwerte liegen durchgehend bei ≥ 10'000 (z. B. 15'823)
Gültige Elo-Spanne: ~700 – 2'800 · Schwelle: Wert &gt; 3'000
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Reparatur:
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wahre Originalwert ist aus den Daten NICHT rekonstruierbar.
Entscheidung: erkannte Fehler bewusst auf null setzen (ehrlich).
→ 'Erkannt, aber nicht reparierbar'
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Erwartete KPIs:
</a:t>
            </a:r>
            <a:r>
              <a:rPr lang="en-US" sz="105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≈ 1.00  (alle ungültigen Werte erkannt)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RepairAcc ≈ 0.00  (null ≠ wahrer Wert)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Kernbeispiel für nicht verifizierbare Fälle (Report §9).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397764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397764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4663440" y="10972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black_rating  (1'484 Fehler)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536192"/>
            <a:ext cx="37033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Erkennung:
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Fehlerwerte liegen durchgehend bei ≥ 10'000 (z. B. 15'823)
Gültige Elo-Spanne: ~700 – 2'800 · Schwelle: Wert &gt; 3'000
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Reparatur:
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wahre Originalwert ist aus den Daten NICHT rekonstruierbar.
Entscheidung: erkannte Fehler bewusst auf null setzen (ehrlich).
→ 'Erkannt, aber nicht reparierbar'
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Erwartete KPIs:
</a:t>
            </a:r>
            <a:r>
              <a:rPr lang="en-US" sz="105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≈ 1.00  (alle ungültigen Werte erkannt)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RepairAcc ≈ 0.00  (null ≠ wahrer Wert)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Kernbeispiel für nicht verifizierbare Fälle (Report §9).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black_rating ist das Bonusfeld (5. Feld für 3-Personen-Team). Identische Logik angewendet.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CLEANSING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Feld: opening_name — Tippfehler (3'080 Fehler)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530352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Fuzzy-Matching-Strategie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72768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Whitelist pro ECO-Code aufbauen
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clean_bronze gruppiert opening_name nach opening_eco
   → eco_map: {eco_code: [</a:t>
            </a:r>
            <a:r>
              <a:rPr lang="en-US" sz="10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gültige_Namen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...]}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Kandidaten über opening_eco eingrenzen
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ECO-Codes reduzieren Kandidaten von ~1'500 eindeutigen
   Namen auf ~3–8 pro Zeile (erheblicher Präzisionsgewinn)
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difflib.get_close_matches (cutoff = 0.6)
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Levenshtein-basiertes Sequenz-Matching
   Bestes Match bei Ähnlichkeit ≥ 0.6, sonst Original (FN)
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Grenze
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Kein sicherer Match → Originalwert bleibt (ehrlicher FN)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Vermeidet Verschlimmbessern bei Grenzfällen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89320" y="1097280"/>
            <a:ext cx="274320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6126480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0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Sicilion Defense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12648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Sicilian Defense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126480" y="2212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Kigns Pawn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126480" y="2468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Kings Pawn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126480" y="28529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Frnech Defense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126480" y="3108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French Defense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126480" y="3493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Ruy Lopz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26480" y="3749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Ruy Lopez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26480" y="4133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Caro-Knnn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26480" y="4389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FN (kein Match)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ERGEBNISSE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Layer: 5-Kategorien-Qualitätsmatrix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554480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TP-hit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 erkannt &amp; korrekt repariert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21992" y="1051560"/>
            <a:ext cx="1554480" cy="347472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2221992" y="10515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TP-miss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21992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Erkannt, aber falsch repariert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941064" y="1051560"/>
            <a:ext cx="15544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3941064" y="10515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41064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Übersehener Fehler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660136" y="1051560"/>
            <a:ext cx="1554480" cy="347472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5660136" y="10515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0136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Sauberer Wert korrekt belassen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379208" y="1051560"/>
            <a:ext cx="1554480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7379208" y="10515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79208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Sauberer Wert fälschlich verändert</a:t>
            </a:r>
            <a:endParaRPr lang="en-US" sz="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8001000" cy="301751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310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Feld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TP-hit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TP-miss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FN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TN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FP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RepairAcc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FP-Rate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D1B2A"/>
                          </a:solidFill>
                        </a:rPr>
                        <a:t>winner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990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1'005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18'063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1.000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0.496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0.663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1.000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0.000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D1B2A"/>
                          </a:solidFill>
                        </a:rPr>
                        <a:t>victory_status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1'805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189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18'064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1.000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1.000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1.000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0.905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0.000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D1B2A"/>
                          </a:solidFill>
                        </a:rPr>
                        <a:t>white_rating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1'446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18'612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1.000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1.000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1.000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0.000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0.000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D1B2A"/>
                          </a:solidFill>
                        </a:rPr>
                        <a:t>black_rating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1'484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18'574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1.000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1.000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1.000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0.000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0.000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D1B2A"/>
                          </a:solidFill>
                        </a:rPr>
                        <a:t>opening_name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2'500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380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200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16'978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0.985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0.935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0.960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0.868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</a:rPr>
                        <a:t>0.000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AGGREGAT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5'295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3'499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1'205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90'291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0.602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0.815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0.693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0.602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0.000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50292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= 0 in allen Feldern: kein sauberer Wert wurde fälschlich verändert.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ERGEBNISSE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KPI-Übersicht pro Feld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05840"/>
          <a:ext cx="53035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760720" y="1005840"/>
          <a:ext cx="30175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ITERATIONS-LOG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473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Pipeline-Entwicklung – Iterations-Log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7543800" cy="27432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Iteration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Änderung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RepairAcc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7A8A"/>
                          </a:solidFill>
                        </a:rPr>
                        <a:t>It. 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Baseline (alle Stubs – keine Cleansing-Logik)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</a:rPr>
                        <a:t>0.000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</a:rPr>
                        <a:t>0.000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</a:rPr>
                        <a:t>0.000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</a:rPr>
                        <a:t>–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7A8A"/>
                          </a:solidFill>
                        </a:rPr>
                        <a:t>It. 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winner: Schachmatt- + Remis-Reparatur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0.354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1.000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0.523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1.000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7A8A"/>
                          </a:solidFill>
                        </a:rPr>
                        <a:t>It. 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victory_status: 3-Stufen-Reparatur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0.589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1.000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0.741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0.905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7A8A"/>
                          </a:solidFill>
                        </a:rPr>
                        <a:t>It. 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white_rating: Elo-Schwelle &gt; 3000 → null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0.634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1.000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0.776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0.503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7A8A"/>
                          </a:solidFill>
                        </a:rPr>
                        <a:t>It. 5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8449"/>
                          </a:solidFill>
                        </a:rPr>
                        <a:t>black_rating + opening_name: Fuzzy-Match (0.6)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8449"/>
                          </a:solidFill>
                        </a:rPr>
                        <a:t>0.693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8449"/>
                          </a:solidFill>
                        </a:rPr>
                        <a:t>0.982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8449"/>
                          </a:solidFill>
                        </a:rPr>
                        <a:t>0.815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8449"/>
                          </a:solidFill>
                        </a:rPr>
                        <a:t>0.602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F1-Entwicklung über die Iterationen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77240" y="4663440"/>
            <a:ext cx="109728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5"/>
          <p:cNvSpPr/>
          <p:nvPr/>
        </p:nvSpPr>
        <p:spPr>
          <a:xfrm>
            <a:off x="502920" y="4434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</a:rPr>
              <a:t>F1: 0.000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47365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</a:rPr>
              <a:t>It.1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41448" y="4280855"/>
            <a:ext cx="1097280" cy="428305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8"/>
          <p:cNvSpPr/>
          <p:nvPr/>
        </p:nvSpPr>
        <p:spPr>
          <a:xfrm>
            <a:off x="2167128" y="4052255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8910"/>
                </a:solidFill>
              </a:rPr>
              <a:t>F1: 0.523</a:t>
            </a:r>
            <a:endParaRPr lang="en-US" sz="900" dirty="0"/>
          </a:p>
        </p:txBody>
      </p:sp>
      <p:sp>
        <p:nvSpPr>
          <p:cNvPr id="5" name="Text 9"/>
          <p:cNvSpPr/>
          <p:nvPr/>
        </p:nvSpPr>
        <p:spPr>
          <a:xfrm>
            <a:off x="2167128" y="47365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</a:rPr>
              <a:t>It.2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05656" y="4121384"/>
            <a:ext cx="1097280" cy="587776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1"/>
          <p:cNvSpPr/>
          <p:nvPr/>
        </p:nvSpPr>
        <p:spPr>
          <a:xfrm>
            <a:off x="3831336" y="389278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8910"/>
                </a:solidFill>
              </a:rPr>
              <a:t>F1: 0.741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831336" y="47365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</a:rPr>
              <a:t>It.3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769864" y="4095780"/>
            <a:ext cx="1097280" cy="61338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4"/>
          <p:cNvSpPr/>
          <p:nvPr/>
        </p:nvSpPr>
        <p:spPr>
          <a:xfrm>
            <a:off x="5495544" y="38671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8A"/>
                </a:solidFill>
              </a:rPr>
              <a:t>F1: 0.776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495544" y="47365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</a:rPr>
              <a:t>It.4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434072" y="4067251"/>
            <a:ext cx="1097280" cy="641909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Text 17"/>
          <p:cNvSpPr/>
          <p:nvPr/>
        </p:nvSpPr>
        <p:spPr>
          <a:xfrm>
            <a:off x="7159752" y="3838651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8449"/>
                </a:solidFill>
              </a:rPr>
              <a:t>F1: 0.815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159752" y="47365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</a:rPr>
              <a:t>It.5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GRENZEN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nicht lösbar war – Nicht verifizierbare Fälle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402336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612648" y="1234440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[winner]  resign / outoftime: Sieger unbekannt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2648" y="1572768"/>
            <a:ext cx="38039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Aufgabe oder Zeitüberschreitung ist der Sieger nicht aus den Spieldaten ableitbar. 1'005 Fälle bleiben als FN. Zusätzlich tragen 44 Remis-Partien fälschlich den Status 'outoftime' – auch diese sind ohne externe Daten nicht auflösbar.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315468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502920" y="3154680"/>
            <a:ext cx="4023360" cy="91440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612648" y="3291840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[victory_status]  resign vs outoftime: nicht unterscheidbar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2648" y="3630168"/>
            <a:ext cx="38039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Illegale 'regicide'-Einträge werden per Mehrheitsschätzung als 'resign' repariert (resign ≈6'400 vs outoftime ≈1'700). Der wahre Status erfordert Uhr-Daten, die im Datensatz fehlen. Diese Reparaturen ergeben TP-miss statt TP-hit.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09728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4" name="Shape 12"/>
          <p:cNvSpPr/>
          <p:nvPr/>
        </p:nvSpPr>
        <p:spPr>
          <a:xfrm>
            <a:off x="4709160" y="1097280"/>
            <a:ext cx="4023360" cy="9144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4818888" y="1234440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[white_rating / black_rating]  Echter Elo-Wert nicht rekonstruierbar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18888" y="1572768"/>
            <a:ext cx="38039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Fehlerwerte (z. B. 15'823) können nicht auf den echten Rating-Wert zurückgerechnet werden. Setzen auf null ist die ehrliche Entscheidung. Recall = 100%, RepairAcc = 0%. Kanonisches Beispiel für 'erkannt, aber nicht reparierbar'.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315468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8" name="Shape 16"/>
          <p:cNvSpPr/>
          <p:nvPr/>
        </p:nvSpPr>
        <p:spPr>
          <a:xfrm>
            <a:off x="4709160" y="3154680"/>
            <a:ext cx="4023360" cy="914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/>
          <p:nvPr/>
        </p:nvSpPr>
        <p:spPr>
          <a:xfrm>
            <a:off x="4818888" y="3291840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[opening_name]  Stark entstellte Tippfehler bleiben FN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18888" y="3630168"/>
            <a:ext cx="38039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Tippfehler mit Ähnlichkeit &lt; 0.6 (z. B. starke Fehlschreibungen über ECO-Varianten hinweg) liefern keinen sicheren Match. Der Originalwert bleibt unverändert, um Verschlimmbessern zu vermeiden. 200 Fälle als FN gemeldet.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REFLEXION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594360" y="112471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🏗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1097280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Pipeline-Robustheit ist wichtiger als perfektes Cleansing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" y="1362456"/>
            <a:ext cx="7452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Bronze/Silver/Gold-Trennung, Shadow-Columns und die positionsbasierte row_id machten das Iterieren sicher und reproduzierbar. Ohne sie hätte der Gold-Join einen Fan-out auf der duplikaten id-Spalte erzeugt.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847088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1892808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Ehrliche Metriken schlagen aufgeblasene Zahlen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2157984"/>
            <a:ext cx="7452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white_rating und black_rating haben Recall = 1.00 aber RepairAcc = 0.00. Das Setzen auf null war eine bewusste Entscheidung – die Daten enthalten schlicht nicht die nötige Information zur Rekonstruktion.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642616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594360" y="271576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43000" y="2688336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Spaltenübergreifende Logik erschliesst versteckte Information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2953512"/>
            <a:ext cx="7452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konnte nur durch Kombination von moves (Schachmatterkennung) und victory_status (Remis-Inferenz) teilweise wiederhergestellt werden. Reine Einzelspalten-Regeln hätten einen deutlich niedrigeren Recall ergeben.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438144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594360" y="351129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43000" y="3483864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Kandidaten eingrenzen ist entscheidend beim Fuzzy-Matching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3749040"/>
            <a:ext cx="7452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Einschränkung von opening_name-Kandidaten auf denselben opening_eco-Code reduzierte das Falsch-Positiv-Risiko erheblich. Ohne ECO-Eingrenzung teilen viele Eröffnungen ähnliche Namen über verschiedene ECO-Gruppen.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4233672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2" name="Text 20"/>
          <p:cNvSpPr/>
          <p:nvPr/>
        </p:nvSpPr>
        <p:spPr>
          <a:xfrm>
            <a:off x="594360" y="430682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43000" y="4279392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Iterations-Log ist ein erstklassiges Lieferobjekt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" y="4544568"/>
            <a:ext cx="7452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Regeländerung mit KPIs zu dokumentieren zwang uns zu Abwägungen (z. B. cutoff 0.6 vs. 0.7) und erzeugte eine klare Entwicklungsgeschichte von F1 = 0 auf F1 = 0.815.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06140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347472" y="3406140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Shape 2"/>
          <p:cNvSpPr/>
          <p:nvPr/>
        </p:nvSpPr>
        <p:spPr>
          <a:xfrm>
            <a:off x="694944" y="3406140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Shape 3"/>
          <p:cNvSpPr/>
          <p:nvPr/>
        </p:nvSpPr>
        <p:spPr>
          <a:xfrm>
            <a:off x="1042416" y="3406140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1389888" y="3406140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Shape 5"/>
          <p:cNvSpPr/>
          <p:nvPr/>
        </p:nvSpPr>
        <p:spPr>
          <a:xfrm>
            <a:off x="0" y="3753612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Shape 6"/>
          <p:cNvSpPr/>
          <p:nvPr/>
        </p:nvSpPr>
        <p:spPr>
          <a:xfrm>
            <a:off x="347472" y="3753612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Shape 7"/>
          <p:cNvSpPr/>
          <p:nvPr/>
        </p:nvSpPr>
        <p:spPr>
          <a:xfrm>
            <a:off x="694944" y="3753612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1042416" y="3753612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1389888" y="3753612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Shape 10"/>
          <p:cNvSpPr/>
          <p:nvPr/>
        </p:nvSpPr>
        <p:spPr>
          <a:xfrm>
            <a:off x="0" y="4101084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Shape 11"/>
          <p:cNvSpPr/>
          <p:nvPr/>
        </p:nvSpPr>
        <p:spPr>
          <a:xfrm>
            <a:off x="347472" y="4101084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Shape 12"/>
          <p:cNvSpPr/>
          <p:nvPr/>
        </p:nvSpPr>
        <p:spPr>
          <a:xfrm>
            <a:off x="694944" y="4101084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Shape 13"/>
          <p:cNvSpPr/>
          <p:nvPr/>
        </p:nvSpPr>
        <p:spPr>
          <a:xfrm>
            <a:off x="1042416" y="4101084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Shape 14"/>
          <p:cNvSpPr/>
          <p:nvPr/>
        </p:nvSpPr>
        <p:spPr>
          <a:xfrm>
            <a:off x="1389888" y="4101084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Shape 15"/>
          <p:cNvSpPr/>
          <p:nvPr/>
        </p:nvSpPr>
        <p:spPr>
          <a:xfrm>
            <a:off x="0" y="4448556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Shape 16"/>
          <p:cNvSpPr/>
          <p:nvPr/>
        </p:nvSpPr>
        <p:spPr>
          <a:xfrm>
            <a:off x="347472" y="4448556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Shape 17"/>
          <p:cNvSpPr/>
          <p:nvPr/>
        </p:nvSpPr>
        <p:spPr>
          <a:xfrm>
            <a:off x="694944" y="4448556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Shape 18"/>
          <p:cNvSpPr/>
          <p:nvPr/>
        </p:nvSpPr>
        <p:spPr>
          <a:xfrm>
            <a:off x="1042416" y="4448556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Shape 19"/>
          <p:cNvSpPr/>
          <p:nvPr/>
        </p:nvSpPr>
        <p:spPr>
          <a:xfrm>
            <a:off x="1389888" y="4448556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Shape 20"/>
          <p:cNvSpPr/>
          <p:nvPr/>
        </p:nvSpPr>
        <p:spPr>
          <a:xfrm>
            <a:off x="0" y="4796028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Shape 21"/>
          <p:cNvSpPr/>
          <p:nvPr/>
        </p:nvSpPr>
        <p:spPr>
          <a:xfrm>
            <a:off x="347472" y="4796028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4" name="Shape 22"/>
          <p:cNvSpPr/>
          <p:nvPr/>
        </p:nvSpPr>
        <p:spPr>
          <a:xfrm>
            <a:off x="694944" y="4796028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5" name="Shape 23"/>
          <p:cNvSpPr/>
          <p:nvPr/>
        </p:nvSpPr>
        <p:spPr>
          <a:xfrm>
            <a:off x="1042416" y="4796028"/>
            <a:ext cx="347472" cy="347472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6" name="Shape 24"/>
          <p:cNvSpPr/>
          <p:nvPr/>
        </p:nvSpPr>
        <p:spPr>
          <a:xfrm>
            <a:off x="1389888" y="4796028"/>
            <a:ext cx="347472" cy="347472"/>
          </a:xfrm>
          <a:prstGeom prst="rect">
            <a:avLst/>
          </a:prstGeom>
          <a:solidFill>
            <a:srgbClr val="1F3A4A"/>
          </a:solidFill>
          <a:ln w="12700">
            <a:solidFill>
              <a:srgbClr val="1F3A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7" name="Text 25"/>
          <p:cNvSpPr/>
          <p:nvPr/>
        </p:nvSpPr>
        <p:spPr>
          <a:xfrm>
            <a:off x="1371600" y="10058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Vielen Dank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1371600" y="2057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Fragen?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743200" y="2697480"/>
            <a:ext cx="3657600" cy="27432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0" name="Text 28"/>
          <p:cNvSpPr/>
          <p:nvPr/>
        </p:nvSpPr>
        <p:spPr>
          <a:xfrm>
            <a:off x="1371600" y="2880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Emmanuel Amatobi  ·  Andri Schneider  ·  Philipp Eglin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71600" y="32461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Projekt – Medallion Pipeline  ·  chess_games  ·  IE2 FS26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14400" y="3886200"/>
            <a:ext cx="1691640" cy="868680"/>
          </a:xfrm>
          <a:prstGeom prst="rect">
            <a:avLst/>
          </a:prstGeom>
          <a:solidFill>
            <a:srgbClr val="0A1520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3" name="Text 31"/>
          <p:cNvSpPr/>
          <p:nvPr/>
        </p:nvSpPr>
        <p:spPr>
          <a:xfrm>
            <a:off x="914400" y="3931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Felder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4400" y="4297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Analysiert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834640" y="3886200"/>
            <a:ext cx="1691640" cy="868680"/>
          </a:xfrm>
          <a:prstGeom prst="rect">
            <a:avLst/>
          </a:prstGeom>
          <a:solidFill>
            <a:srgbClr val="0A1520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6" name="Text 34"/>
          <p:cNvSpPr/>
          <p:nvPr/>
        </p:nvSpPr>
        <p:spPr>
          <a:xfrm>
            <a:off x="2834640" y="3931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Iterationen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834640" y="4297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Dokumentiert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3886200"/>
            <a:ext cx="1691640" cy="868680"/>
          </a:xfrm>
          <a:prstGeom prst="rect">
            <a:avLst/>
          </a:prstGeom>
          <a:solidFill>
            <a:srgbClr val="0A1520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9" name="Text 37"/>
          <p:cNvSpPr/>
          <p:nvPr/>
        </p:nvSpPr>
        <p:spPr>
          <a:xfrm>
            <a:off x="4754880" y="3931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0.815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754880" y="4297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Endwert Aggregat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675120" y="3886200"/>
            <a:ext cx="1691640" cy="868680"/>
          </a:xfrm>
          <a:prstGeom prst="rect">
            <a:avLst/>
          </a:prstGeom>
          <a:solidFill>
            <a:srgbClr val="0A1520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2" name="Text 40"/>
          <p:cNvSpPr/>
          <p:nvPr/>
        </p:nvSpPr>
        <p:spPr>
          <a:xfrm>
            <a:off x="6675120" y="3931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= 0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675120" y="4297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Kollateralschäden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1758</Words>
  <Application>Microsoft Office PowerPoint</Application>
  <PresentationFormat>On-screen Show (16:9)</PresentationFormat>
  <Paragraphs>355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Projekt – Medallion Pipeline chess_games</dc:title>
  <dc:subject>PptxGenJS Presentation</dc:subject>
  <dc:creator>PptxGenJS</dc:creator>
  <cp:lastModifiedBy>Amatobi Emmanuel (amatoemm)</cp:lastModifiedBy>
  <cp:revision>3</cp:revision>
  <dcterms:created xsi:type="dcterms:W3CDTF">2026-05-24T12:23:25Z</dcterms:created>
  <dcterms:modified xsi:type="dcterms:W3CDTF">2026-05-24T12:31:26Z</dcterms:modified>
</cp:coreProperties>
</file>