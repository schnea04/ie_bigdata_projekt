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8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de-CH" sz="1800" b="0" i="0" u="none" strike="noStrike">
                <a:solidFill>
                  <a:srgbClr val="000000"/>
                </a:solidFill>
                <a:latin typeface="Arial"/>
              </a:rPr>
              <a:t>Precision / Recall / F1 pro Feld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A7A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opening_name</c:v>
                </c:pt>
                <c:pt idx="1">
                  <c:v>victory_status</c:v>
                </c:pt>
                <c:pt idx="2">
                  <c:v>white_rating</c:v>
                </c:pt>
                <c:pt idx="3">
                  <c:v>winner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B5-4074-9B5F-A03AC57194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opening_name</c:v>
                </c:pt>
                <c:pt idx="1">
                  <c:v>victory_status</c:v>
                </c:pt>
                <c:pt idx="2">
                  <c:v>white_rating</c:v>
                </c:pt>
                <c:pt idx="3">
                  <c:v>winner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B5-4074-9B5F-A03AC571946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F0C04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opening_name</c:v>
                </c:pt>
                <c:pt idx="1">
                  <c:v>victory_status</c:v>
                </c:pt>
                <c:pt idx="2">
                  <c:v>white_rating</c:v>
                </c:pt>
                <c:pt idx="3">
                  <c:v>winner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0.54600000000000004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6B5-4074-9B5F-A03AC57194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de-CH" sz="1800" b="0" i="0" u="none" strike="noStrike">
                <a:solidFill>
                  <a:srgbClr val="000000"/>
                </a:solidFill>
                <a:latin typeface="Arial"/>
              </a:rPr>
              <a:t>Reparaturgenauigkeit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RepairAcc</c:v>
                </c:pt>
              </c:strCache>
            </c:strRef>
          </c:tx>
          <c:spPr>
            <a:solidFill>
              <a:srgbClr val="D6891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opening_name</c:v>
                </c:pt>
                <c:pt idx="1">
                  <c:v>victory_status</c:v>
                </c:pt>
                <c:pt idx="2">
                  <c:v>white_rating</c:v>
                </c:pt>
                <c:pt idx="3">
                  <c:v>winner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0.91600000000000004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89-4AAE-A5CE-79445A11F2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073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0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7754112" y="0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8101584" y="0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8449056" y="0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8796528" y="0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7406640" y="347472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Shape 6"/>
          <p:cNvSpPr/>
          <p:nvPr/>
        </p:nvSpPr>
        <p:spPr>
          <a:xfrm>
            <a:off x="7754112" y="347472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8101584" y="347472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8449056" y="347472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8796528" y="347472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Shape 10"/>
          <p:cNvSpPr/>
          <p:nvPr/>
        </p:nvSpPr>
        <p:spPr>
          <a:xfrm>
            <a:off x="7406640" y="694944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Shape 11"/>
          <p:cNvSpPr/>
          <p:nvPr/>
        </p:nvSpPr>
        <p:spPr>
          <a:xfrm>
            <a:off x="7754112" y="694944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8101584" y="694944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Shape 13"/>
          <p:cNvSpPr/>
          <p:nvPr/>
        </p:nvSpPr>
        <p:spPr>
          <a:xfrm>
            <a:off x="8449056" y="694944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Shape 14"/>
          <p:cNvSpPr/>
          <p:nvPr/>
        </p:nvSpPr>
        <p:spPr>
          <a:xfrm>
            <a:off x="8796528" y="694944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Shape 15"/>
          <p:cNvSpPr/>
          <p:nvPr/>
        </p:nvSpPr>
        <p:spPr>
          <a:xfrm>
            <a:off x="7406640" y="1042416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Shape 16"/>
          <p:cNvSpPr/>
          <p:nvPr/>
        </p:nvSpPr>
        <p:spPr>
          <a:xfrm>
            <a:off x="7754112" y="1042416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Shape 17"/>
          <p:cNvSpPr/>
          <p:nvPr/>
        </p:nvSpPr>
        <p:spPr>
          <a:xfrm>
            <a:off x="8101584" y="1042416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Shape 18"/>
          <p:cNvSpPr/>
          <p:nvPr/>
        </p:nvSpPr>
        <p:spPr>
          <a:xfrm>
            <a:off x="8449056" y="1042416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Shape 19"/>
          <p:cNvSpPr/>
          <p:nvPr/>
        </p:nvSpPr>
        <p:spPr>
          <a:xfrm>
            <a:off x="8796528" y="1042416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Shape 20"/>
          <p:cNvSpPr/>
          <p:nvPr/>
        </p:nvSpPr>
        <p:spPr>
          <a:xfrm>
            <a:off x="7406640" y="1389888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Shape 21"/>
          <p:cNvSpPr/>
          <p:nvPr/>
        </p:nvSpPr>
        <p:spPr>
          <a:xfrm>
            <a:off x="7754112" y="1389888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Shape 22"/>
          <p:cNvSpPr/>
          <p:nvPr/>
        </p:nvSpPr>
        <p:spPr>
          <a:xfrm>
            <a:off x="8101584" y="1389888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Shape 23"/>
          <p:cNvSpPr/>
          <p:nvPr/>
        </p:nvSpPr>
        <p:spPr>
          <a:xfrm>
            <a:off x="8449056" y="1389888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Shape 24"/>
          <p:cNvSpPr/>
          <p:nvPr/>
        </p:nvSpPr>
        <p:spPr>
          <a:xfrm>
            <a:off x="8796528" y="1389888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Shape 25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8" name="Text 26"/>
          <p:cNvSpPr/>
          <p:nvPr/>
        </p:nvSpPr>
        <p:spPr>
          <a:xfrm>
            <a:off x="640080" y="9144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PROJEKT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137160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Pipeline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chess_games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640080" y="2880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/ Silver / Gold  ·  Quality Assessment  ·  Databricks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4297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Amatobi  ·  Philipp Eglin  ·  Andri Schneider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4617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IE2 FS26 – Projekt 2  ·  ZHAW School of Engineering  ·  24.05.2026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ÜBERSICHT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457200" cy="38404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097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Datensatz &amp; Feldauswahl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3716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chess_games (ZHAW Benchmark) – 5 Fehlerspalten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457200" cy="38404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6459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Pipeline-Architektur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92024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 mit Shadow-Columns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240280"/>
            <a:ext cx="457200" cy="38404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194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Cleansing-Ansatz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688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· victory_status · white_rating · opening_name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788920"/>
            <a:ext cx="457200" cy="38404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502920" y="27889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743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 &amp; KPIs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01752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5-Kategorien-Matrix  ·  Precision / Recall / F1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337560"/>
            <a:ext cx="457200" cy="38404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502920" y="33375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2918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Iterations-Log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56616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Iterationen – Entwicklung der Qualitätskennzahlen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886200"/>
            <a:ext cx="457200" cy="38404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Text 24"/>
          <p:cNvSpPr/>
          <p:nvPr/>
        </p:nvSpPr>
        <p:spPr>
          <a:xfrm>
            <a:off x="502920" y="38862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38404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lösbare Fälle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41148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Strukturelle Grenzen und ehrliche FN-Dokumentation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4434840"/>
            <a:ext cx="457200" cy="38404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0" name="Text 28"/>
          <p:cNvSpPr/>
          <p:nvPr/>
        </p:nvSpPr>
        <p:spPr>
          <a:xfrm>
            <a:off x="502920" y="44348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07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4389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1560" y="466344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 &amp; wichtigste Erkenntnisse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DATENSATZ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Datensatz: chess_games (ZHAW Benchmark)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920240" cy="9144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20'058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Zeilen gesamt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09728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2560320" y="1097280"/>
            <a:ext cx="1920240" cy="914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25603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60320" y="18470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Spalten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09728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4617720" y="1097280"/>
            <a:ext cx="1920240" cy="9144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46177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17720" y="18470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109728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8" name="Shape 16"/>
          <p:cNvSpPr/>
          <p:nvPr/>
        </p:nvSpPr>
        <p:spPr>
          <a:xfrm>
            <a:off x="6675120" y="1097280"/>
            <a:ext cx="1920240" cy="914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66751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 MB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675120" y="18470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Grösse (dirty)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31720"/>
          <a:ext cx="8138160" cy="24688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Feld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Fehlertyp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Anzahl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Analysiert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opening_name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Tippfehler (Typo)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3'080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winner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Fehlender Wert (MV)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1'995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victory_status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Ungültiger Wert (IV)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1'994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black_rating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Ungültiger / Falscher Wert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1'484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</a:rPr>
                        <a:t>✓ (Bonus)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white_rating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Ungültiger / Falscher Wert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1'446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02920" y="4828032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Hinweis: id-Spalte hat 945 Duplikate → positionsbasierte row_id via monotonically_increasing_id()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ARCHITEKTUR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Pipeline – Architektur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5603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BRONZE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9A"/>
                </a:solidFill>
              </a:rPr>
              <a:t>Roh-Ingest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560320" cy="45720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324612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SILVER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4612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9A"/>
                </a:solidFill>
              </a:rPr>
              <a:t>Typisiert &amp; bereinigt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560320" cy="4572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612648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GOLD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2648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9A"/>
                </a:solidFill>
              </a:rPr>
              <a:t>Business Layer &amp; KPIs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1234440"/>
            <a:ext cx="320040" cy="0"/>
          </a:xfrm>
          <a:prstGeom prst="line">
            <a:avLst/>
          </a:prstGeom>
          <a:noFill/>
          <a:ln w="25400">
            <a:solidFill>
              <a:srgbClr val="7F8C9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3068631" y="10968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9A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06440" y="1234440"/>
            <a:ext cx="320040" cy="0"/>
          </a:xfrm>
          <a:prstGeom prst="line">
            <a:avLst/>
          </a:prstGeom>
          <a:noFill/>
          <a:ln w="25400">
            <a:solidFill>
              <a:srgbClr val="7F8C9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5958369" y="1101501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9A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1828800"/>
            <a:ext cx="256032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457200" y="1874520"/>
            <a:ext cx="23774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clean_bronze: sauberes CSV + row_id + _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ingest_ts</a:t>
            </a:r>
            <a:endParaRPr lang="en-US" sz="9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dirty_bronze: fehlerhaftes CSV + row_id + _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ingest_ts</a:t>
            </a:r>
            <a:endParaRPr lang="en-US" sz="9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Spalten als STRING (keine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Typkonvertierung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342900" indent="-342900">
              <a:buSzPct val="100000"/>
              <a:buChar char="•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– Bronze wird nie verändert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1828800"/>
            <a:ext cx="256032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3337560" y="1874520"/>
            <a:ext cx="23774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clean_silver: nur Typkonvertierung (kein Cleansing)</a:t>
            </a:r>
          </a:p>
          <a:p>
            <a:pPr marL="342900" indent="-342900">
              <a:buSzPct val="100000"/>
              <a:buChar char="•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dirty_silver: Typkonvertierung + Cleansing-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Funktionen</a:t>
            </a:r>
            <a:endParaRPr lang="en-US" sz="9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Shadow-Columns: X_original (Wert vor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Bereinigung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342900" indent="-342900">
              <a:buSzPct val="100000"/>
              <a:buChar char="•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Analysierte Felder: winner, victory_status, white_rating, opening_name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1828800"/>
            <a:ext cx="256032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/>
          <p:nvPr/>
        </p:nvSpPr>
        <p:spPr>
          <a:xfrm>
            <a:off x="6217920" y="1874520"/>
            <a:ext cx="23774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über row_id → apples-to-apples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</a:t>
            </a:r>
            <a:endParaRPr lang="en-US" sz="9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Zellen-Klassifikation: TP-hit / TP-miss / FN / TN / FP</a:t>
            </a:r>
          </a:p>
          <a:p>
            <a:pPr marL="342900" indent="-342900">
              <a:buSzPct val="100000"/>
              <a:buChar char="•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Precision, Recall, F1, RepairAcc, FP-Rate</a:t>
            </a:r>
          </a:p>
          <a:p>
            <a:pPr marL="342900" indent="-342900">
              <a:buSzPct val="100000"/>
              <a:buChar char="•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Iterations-Log nach jeder Regelverfeinerung ergänzt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CLEANSING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Feld: winner — Fehlender Wert (1'995 Fehler)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457200" cy="10972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26187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Schachmatterkennung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536192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moves auf '#' endet → Sieger aus Zugparität ableiten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(turns ungerade → 'white', turns gerade → 'black')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Deterministische Regel, sehr zuverlässig.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502920" y="2423160"/>
            <a:ext cx="457200" cy="109728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51560" y="249631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Remis-Auflösung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770632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victory_status == 'draw' → winner = 'draw'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906 / 906 Remis-Partien vollständig aufgelöst.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Spaltenübergreifende Logik, eindeutig.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657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6" name="Shape 14"/>
          <p:cNvSpPr/>
          <p:nvPr/>
        </p:nvSpPr>
        <p:spPr>
          <a:xfrm>
            <a:off x="502920" y="3657600"/>
            <a:ext cx="457200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502920" y="365760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373075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auflösbare Fälle (FN) — 1'245 Fälle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005072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 / outoftime: Sieger ist aus den Spieldaten NICHT ableitbar.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1'245 Fälle bleiben als FN. Zusätzlich 44 Remis-Partien mit Status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'outoftime' – ebenfalls nicht lösbar. Ehrlich als FN gemeldet.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TP-hit = 750 · FN = 1'245 · Recall = 0.376 · RepairAcc = 1.0 (alle Reparaturen korrekt)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CLEANSING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Feld: victory_status — Ungültiger Wert (1'994 Fehler)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37947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Erkennungs- und Reparaturlogik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20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Gültige Werte: 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 · resign · outoftime · draw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Fehlerwert: 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'regicide' (ungültig)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Reparatur – 3 Stufen:
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moves endet auf '#'  →  'mate'
② winner_original == 'draw'  →  'draw'
③ sonst  →  'resign' (Mehrheitsschätzung)
   resign ≈6'400  vs  outoftime ≈1'700
</a:t>
            </a:r>
            <a:r>
              <a:rPr lang="en-US" sz="105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Verwendet winner_original (nicht den bereinigten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winner) → beide Felder bleiben unabhängig.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143000"/>
            <a:ext cx="42519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4617720" y="12344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Ergebnis-Übersicht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1691640"/>
            <a:ext cx="1005840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4617720" y="1691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1'827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0" y="17647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TP-hit (korrekt repariert)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2514600"/>
            <a:ext cx="1005840" cy="502920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4617720" y="2514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167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0" y="25877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TP-miss (falsch repariert)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3337560"/>
            <a:ext cx="10058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4617720" y="33375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5000" y="34107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erkannt (FN)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4160520"/>
            <a:ext cx="1005840" cy="50292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4617720" y="41605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0" y="4233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(Kollateralschäden)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464515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1.0 · Precision = 1.0 · F1 = 1.0 · RepairAcc = 0.916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CLEANSING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Feld: white_rating — Ungültige / Falsche Werte (1'446 Fehler)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512064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Erkennungs- und Reparaturlogik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4846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Erkennung:
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Fehlerwerte liegen durchgehend bei ≥ 10'000 (z. B. 15'823)
Gültige Elo-Spanne: ~700 – 2'800 · Schwelle: Wert &gt; 3'000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Reparatur:
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wahre Originalwert ist aus den Daten NICHT rekonstruierbar.
Entscheidung: erkannte Fehler bewusst auf null setzen.
→ 'Erkannt, aber nicht reparierbar'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Bewertung:
</a:t>
            </a:r>
            <a:r>
              <a:rPr lang="en-US" sz="105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TP_miss = 1'446  (null ≠ wahrer Wert)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1.0 · Precision = 1.0 · RepairAcc = 0.0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 ist das Kernbeispiel für nicht verifizierbare Fälle.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Ehrlicher Umgang mit unrekonstruierbaren Fehlern.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06440" y="1097280"/>
            <a:ext cx="29260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5943600" y="1188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KPI-Ergebnis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1691640"/>
            <a:ext cx="914400" cy="457200"/>
          </a:xfrm>
          <a:prstGeom prst="rect">
            <a:avLst/>
          </a:prstGeom>
          <a:solidFill>
            <a:srgbClr val="7F8C9A"/>
          </a:solidFill>
          <a:ln w="12700">
            <a:solidFill>
              <a:srgbClr val="7F8C9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594360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1783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TP-hit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2468880"/>
            <a:ext cx="914400" cy="457200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5943600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1'446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49440" y="2560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TP-miss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3246120"/>
            <a:ext cx="914400" cy="457200"/>
          </a:xfrm>
          <a:prstGeom prst="rect">
            <a:avLst/>
          </a:prstGeom>
          <a:solidFill>
            <a:srgbClr val="7F8C9A"/>
          </a:solidFill>
          <a:ln w="12700">
            <a:solidFill>
              <a:srgbClr val="7F8C9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594360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49440" y="3337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4023360"/>
            <a:ext cx="914400" cy="45720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5943600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18'612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49440" y="4114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46177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1.0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RepairAcc = 0.0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CLEANSING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Feld: opening_name — Tippfehler (3'080 Fehler)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530352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Fuzzy-Matching-Strategie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Whitelist pro ECO-Code aufbauen
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clean_bronze gruppiert opening_name nach opening_eco → collect_set
   eco_map: {eco_code: [gültige_Namen...]}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Kandidaten über opening_eco eingrenzen
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ECO-Codes reduzieren Kandidaten von ~1'500 auf ~3–8 pro Zeile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difflib.get_close_matches (cutoff = 0.6)
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Levenshtein-basiertes Sequenz-Matching
   Bestes Match bei Ähnlichkeit ≥ 0.6, sonst Original (FN)
</a:t>
            </a: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TP-hit = 3'080 · FN = 0 · FP = 0
</a:t>
            </a: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Alle 3'080 Tippfehler korrekt erkannt und repariert!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Recall = 1.0 · Precision = 1.0 · RepairAcc = 1.0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89320" y="109728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612648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Sicilion Defense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12648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Sicilian Defense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26480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Kigns Pawn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26480" y="2468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Kings Pawn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126480" y="2852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Quern's Pawb Game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26480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Queen's Pawn Game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126480" y="3493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Frnech Defense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0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French Defense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26480" y="4133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Ruy Lopz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26480" y="4389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Ruy Lopez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ERGEBNISSE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Layer: 5-Kategorien-Qualitätsmatrix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55448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TP-hit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erkannt &amp; korrekt repariert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21992" y="1051560"/>
            <a:ext cx="1554480" cy="34747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2221992" y="1051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TP-miss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21992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Erkannt, aber falsch repariert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941064" y="1051560"/>
            <a:ext cx="15544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3941064" y="1051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41064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Übersehener Fehler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660136" y="1051560"/>
            <a:ext cx="1554480" cy="347472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5660136" y="1051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0136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Sauberer Wert korrekt belassen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379208" y="1051560"/>
            <a:ext cx="155448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7379208" y="1051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79208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Sauberer Wert fälschlich verändert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8001000" cy="30175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Feld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TP-hit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TP-miss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FN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TN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FP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RepairAcc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FP-Rate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D1B2A"/>
                          </a:solidFill>
                        </a:rPr>
                        <a:t>opening_name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3'080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16'978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1.0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1.0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1.0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1.0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0.0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D1B2A"/>
                          </a:solidFill>
                        </a:rPr>
                        <a:t>victory_status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1'827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167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18'064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1.0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1.0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1.0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0.916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0.0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D1B2A"/>
                          </a:solidFill>
                        </a:rPr>
                        <a:t>white_rating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1'446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18'612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1.0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1.0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1.0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0.0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0.0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D1B2A"/>
                          </a:solidFill>
                        </a:rPr>
                        <a:t>winner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750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1'245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18'063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1.0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0.376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0.546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1.0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0.0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AGGREGAT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5'657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1'613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1'245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71'717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1.0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0.854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0.921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0.778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0.0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0292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= 0 in allen Feldern: kein sauberer Wert wurde fälschlich verändert. UNDEF = 0. (Echte Werte aus Databricks)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ERGEBNISSE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KPI-Übersicht pro Feld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5303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760720" y="1005840"/>
          <a:ext cx="3017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ITERATIONS-LOG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Pipeline-Entwicklung – Iterations-Log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8229600" cy="260604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It.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Datum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Änderung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Prec.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RepairAcc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FP-Rate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7A8A"/>
                          </a:solidFill>
                        </a:rPr>
                        <a:t>It. 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21.05.2026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winner: Remis über victory_status ergänzt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</a:rPr>
                        <a:t>0.162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</a:rPr>
                        <a:t>1.0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</a:rPr>
                        <a:t>0.088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</a:rPr>
                        <a:t>1.0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</a:rPr>
                        <a:t>0.0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7A8A"/>
                          </a:solidFill>
                        </a:rPr>
                        <a:t>It. 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22.05.2026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white_rating: Werte über 3000 eliminiert (v1)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0.812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1.0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0.684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0.971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0.0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7A8A"/>
                          </a:solidFill>
                        </a:rPr>
                        <a:t>It. 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22.05.2026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white_rating: Werte über 3000 eliminiert (v2) +</a:t>
                      </a:r>
                      <a:endParaRPr lang="en-US" sz="950" dirty="0"/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opening_name Fuzzy-Match + victory_status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0.921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1.0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0.854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0.778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0.0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7A8A"/>
                          </a:solidFill>
                        </a:rPr>
                        <a:t>It. 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7A8A"/>
                          </a:solidFill>
                        </a:rPr>
                        <a:t>24.05.2026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7A8A"/>
                          </a:solidFill>
                        </a:rPr>
                        <a:t>black_rating: Werte über 3000 eliminiert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7A8A"/>
                          </a:solidFill>
                        </a:rPr>
                        <a:t>0.921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7A8A"/>
                          </a:solidFill>
                        </a:rPr>
                        <a:t>1.0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7A8A"/>
                          </a:solidFill>
                        </a:rPr>
                        <a:t>0.854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7A8A"/>
                          </a:solidFill>
                        </a:rPr>
                        <a:t>0.778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7A8A"/>
                          </a:solidFill>
                        </a:rPr>
                        <a:t>0.0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F1-Entwicklung über die Iterationen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188720" y="4564959"/>
            <a:ext cx="1188720" cy="171633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5"/>
          <p:cNvSpPr/>
          <p:nvPr/>
        </p:nvSpPr>
        <p:spPr>
          <a:xfrm>
            <a:off x="914400" y="4336359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F1: 0.162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4754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</a:rPr>
              <a:t>It.1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08960" y="4059753"/>
            <a:ext cx="1188720" cy="676839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8"/>
          <p:cNvSpPr/>
          <p:nvPr/>
        </p:nvSpPr>
        <p:spPr>
          <a:xfrm>
            <a:off x="2834640" y="3831153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8910"/>
                </a:solidFill>
              </a:rPr>
              <a:t>F1: 0.812</a:t>
            </a:r>
            <a:endParaRPr lang="en-US" sz="900" dirty="0"/>
          </a:p>
        </p:txBody>
      </p:sp>
      <p:sp>
        <p:nvSpPr>
          <p:cNvPr id="5" name="Text 9"/>
          <p:cNvSpPr/>
          <p:nvPr/>
        </p:nvSpPr>
        <p:spPr>
          <a:xfrm>
            <a:off x="2834640" y="4754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</a:rPr>
              <a:t>It.2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029200" y="3975034"/>
            <a:ext cx="1188720" cy="76155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1"/>
          <p:cNvSpPr/>
          <p:nvPr/>
        </p:nvSpPr>
        <p:spPr>
          <a:xfrm>
            <a:off x="4754880" y="374643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8449"/>
                </a:solidFill>
              </a:rPr>
              <a:t>F1: 0.921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754880" y="4754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</a:rPr>
              <a:t>It.3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949440" y="3975034"/>
            <a:ext cx="1188720" cy="761558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4"/>
          <p:cNvSpPr/>
          <p:nvPr/>
        </p:nvSpPr>
        <p:spPr>
          <a:xfrm>
            <a:off x="6675120" y="374643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8A"/>
                </a:solidFill>
              </a:rPr>
              <a:t>F1: 0.921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675120" y="4754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</a:rPr>
              <a:t>It.4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GRENZEN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nicht lösbar war – Nicht verifizierbare Fälle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402336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612648" y="123444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[winner]  resign / outoftime: Sieger unbekannt (1'245 FN)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" y="1572768"/>
            <a:ext cx="3803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Aufgabe oder Zeitüberschreitung ist der Sieger nicht aus den Spieldaten ableitbar. 1'245 Fälle bleiben als FN. Recall = 0.376 ist das direkte Ergebnis dieser strukturellen Grenze — kein Algorithmusfehler, sondern fehlende Information.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315468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502920" y="3154680"/>
            <a:ext cx="4023360" cy="91440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612648" y="329184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[victory_status]  resign vs outoftime: nicht unterscheidbar (167 TP-miss)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2648" y="3630168"/>
            <a:ext cx="3803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 Fälle wurden als 'resign' repariert, obwohl der wahre Status 'outoftime' war (Mehrheitsschätzung). Uhr-Daten fehlen. Diese Reparaturen ergeben TP-miss statt TP-hit → RepairAcc = 0.916 statt 1.0.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4709160" y="1097280"/>
            <a:ext cx="4023360" cy="9144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4818888" y="123444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[white_rating]  Echter Elo-Wert nicht rekonstruierbar (1'446 TP-miss)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18888" y="1572768"/>
            <a:ext cx="3803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1'446 Fehlerwerte erkannt (Recall = 1.0), aber null gesetzt statt Originalwert → RepairAcc = 0.0. Kanonisches Beispiel: 'erkannt, aber nicht reparierbar'. Ehrlichste Lösung ohne externe Datenbasis.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315468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8" name="Shape 16"/>
          <p:cNvSpPr/>
          <p:nvPr/>
        </p:nvSpPr>
        <p:spPr>
          <a:xfrm>
            <a:off x="4709160" y="3154680"/>
            <a:ext cx="4023360" cy="914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4818888" y="329184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[opening_name]  Vollständig gelöst — kein Grenzfall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18888" y="3630168"/>
            <a:ext cx="3803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3'080 Tippfehler wurden durch Fuzzy-Matching korrekt repariert. TP-hit = 3'080, FN = 0, FP = 0. Das ECO-Scoping war entscheidend: ohne Eingrenzung auf denselben ECO-Code wären viele Falsch-Positive entstanden.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REFLEXION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594360" y="11247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🏗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097280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Pipeline-Robustheit ist wichtiger als perfektes Cleansing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1362456"/>
            <a:ext cx="7452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Bronze/Silver/Gold-Trennung, Shadow-Columns und die positionsbasierte row_id machten das Iterieren sicher und reproduzierbar. Ohne sie hätte der Gold-Join einen Fan-out auf der duplikaten id-Spalte erzeugt.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847088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1892808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Ehrliche Metriken schlagen aufgeblasene Zahlen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2157984"/>
            <a:ext cx="7452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white_rating: Recall = 1.0, RepairAcc = 0.0 — bewusst null gesetzt statt zu raten. winner: Recall = 0.376 — 1'245 FN ehrlich gemeldet. Precision = 1.0 über alle Felder: kein einziger FP.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642616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594360" y="27157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2688336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Spaltenübergreifende Logik erschliesst versteckte Information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2953512"/>
            <a:ext cx="7452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Kombination von moves (Schachmatterkennung via '#') und victory_status (Remis-Inferenz). victory_status: nutzt winner_original unabhängig vom bereinigten winner-Wert.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438144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594360" y="351129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43000" y="348386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 ist entscheidend beim Fuzzy-Matching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3749040"/>
            <a:ext cx="7452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opening_name: Kandidaten auf denselben opening_eco-Code einzugrenzen war der Schlüssel zu 100% Recall. Ohne ECO-Scoping hätten ähnliche Eröffnungsnamen über ECO-Gruppen hinweg zu FP geführt.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4233672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594360" y="430682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43000" y="4279392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Iterations-Log erzeugt die Entwicklungsgeschichte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4544568"/>
            <a:ext cx="7452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F1 = 0.162 (nur winner) bis F1 = 0.921 (alle Felder). Jede Iteration zeigt klar, welches Feld welchen Beitrag leistet — und warum winner mit Recall = 0.376 das 'Bottleneck' des Aggregats bleibt.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06140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347472" y="3406140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694944" y="3406140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1042416" y="3406140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1389888" y="3406140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0" y="3753612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Shape 6"/>
          <p:cNvSpPr/>
          <p:nvPr/>
        </p:nvSpPr>
        <p:spPr>
          <a:xfrm>
            <a:off x="347472" y="3753612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694944" y="3753612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1042416" y="3753612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1389888" y="3753612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Shape 10"/>
          <p:cNvSpPr/>
          <p:nvPr/>
        </p:nvSpPr>
        <p:spPr>
          <a:xfrm>
            <a:off x="0" y="4101084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Shape 11"/>
          <p:cNvSpPr/>
          <p:nvPr/>
        </p:nvSpPr>
        <p:spPr>
          <a:xfrm>
            <a:off x="347472" y="4101084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694944" y="4101084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Shape 13"/>
          <p:cNvSpPr/>
          <p:nvPr/>
        </p:nvSpPr>
        <p:spPr>
          <a:xfrm>
            <a:off x="1042416" y="4101084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Shape 14"/>
          <p:cNvSpPr/>
          <p:nvPr/>
        </p:nvSpPr>
        <p:spPr>
          <a:xfrm>
            <a:off x="1389888" y="4101084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Shape 15"/>
          <p:cNvSpPr/>
          <p:nvPr/>
        </p:nvSpPr>
        <p:spPr>
          <a:xfrm>
            <a:off x="0" y="4448556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Shape 16"/>
          <p:cNvSpPr/>
          <p:nvPr/>
        </p:nvSpPr>
        <p:spPr>
          <a:xfrm>
            <a:off x="347472" y="4448556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Shape 17"/>
          <p:cNvSpPr/>
          <p:nvPr/>
        </p:nvSpPr>
        <p:spPr>
          <a:xfrm>
            <a:off x="694944" y="4448556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Shape 18"/>
          <p:cNvSpPr/>
          <p:nvPr/>
        </p:nvSpPr>
        <p:spPr>
          <a:xfrm>
            <a:off x="1042416" y="4448556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Shape 19"/>
          <p:cNvSpPr/>
          <p:nvPr/>
        </p:nvSpPr>
        <p:spPr>
          <a:xfrm>
            <a:off x="1389888" y="4448556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Shape 20"/>
          <p:cNvSpPr/>
          <p:nvPr/>
        </p:nvSpPr>
        <p:spPr>
          <a:xfrm>
            <a:off x="0" y="4796028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Shape 21"/>
          <p:cNvSpPr/>
          <p:nvPr/>
        </p:nvSpPr>
        <p:spPr>
          <a:xfrm>
            <a:off x="347472" y="4796028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Shape 22"/>
          <p:cNvSpPr/>
          <p:nvPr/>
        </p:nvSpPr>
        <p:spPr>
          <a:xfrm>
            <a:off x="694944" y="4796028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Shape 23"/>
          <p:cNvSpPr/>
          <p:nvPr/>
        </p:nvSpPr>
        <p:spPr>
          <a:xfrm>
            <a:off x="1042416" y="4796028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Shape 24"/>
          <p:cNvSpPr/>
          <p:nvPr/>
        </p:nvSpPr>
        <p:spPr>
          <a:xfrm>
            <a:off x="1389888" y="4796028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Text 25"/>
          <p:cNvSpPr/>
          <p:nvPr/>
        </p:nvSpPr>
        <p:spPr>
          <a:xfrm>
            <a:off x="1371600" y="10058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1371600" y="2057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Fragen?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743200" y="2697480"/>
            <a:ext cx="3657600" cy="27432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0" name="Text 28"/>
          <p:cNvSpPr/>
          <p:nvPr/>
        </p:nvSpPr>
        <p:spPr>
          <a:xfrm>
            <a:off x="1371600" y="2880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Amatobi  ·  Philipp Eglin ·  Andri Schneider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71600" y="3246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Projekt – Medallion Pipeline  ·  chess_games  ·  IE2 FS26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4400" y="3886200"/>
            <a:ext cx="1691640" cy="868680"/>
          </a:xfrm>
          <a:prstGeom prst="rect">
            <a:avLst/>
          </a:prstGeom>
          <a:solidFill>
            <a:srgbClr val="0A1520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3" name="Text 31"/>
          <p:cNvSpPr/>
          <p:nvPr/>
        </p:nvSpPr>
        <p:spPr>
          <a:xfrm>
            <a:off x="914400" y="3931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0.921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4400" y="4297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 final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834640" y="3886200"/>
            <a:ext cx="1691640" cy="868680"/>
          </a:xfrm>
          <a:prstGeom prst="rect">
            <a:avLst/>
          </a:prstGeom>
          <a:solidFill>
            <a:srgbClr val="0A1520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6" name="Text 34"/>
          <p:cNvSpPr/>
          <p:nvPr/>
        </p:nvSpPr>
        <p:spPr>
          <a:xfrm>
            <a:off x="2834640" y="3931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0.854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834640" y="4297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 final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3886200"/>
            <a:ext cx="1691640" cy="868680"/>
          </a:xfrm>
          <a:prstGeom prst="rect">
            <a:avLst/>
          </a:prstGeom>
          <a:solidFill>
            <a:srgbClr val="0A1520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9" name="Text 37"/>
          <p:cNvSpPr/>
          <p:nvPr/>
        </p:nvSpPr>
        <p:spPr>
          <a:xfrm>
            <a:off x="4754880" y="3931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= 0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754880" y="4297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Kollateralschäden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675120" y="3886200"/>
            <a:ext cx="1691640" cy="868680"/>
          </a:xfrm>
          <a:prstGeom prst="rect">
            <a:avLst/>
          </a:prstGeom>
          <a:solidFill>
            <a:srgbClr val="0A1520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2" name="Text 40"/>
          <p:cNvSpPr/>
          <p:nvPr/>
        </p:nvSpPr>
        <p:spPr>
          <a:xfrm>
            <a:off x="6675120" y="3931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Iter.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675120" y="4297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Dokumentiert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1665</Words>
  <Application>Microsoft Office PowerPoint</Application>
  <PresentationFormat>On-screen Show (16:9)</PresentationFormat>
  <Paragraphs>351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Projekt – Medallion Pipeline chess_games</dc:title>
  <dc:subject>PptxGenJS Presentation</dc:subject>
  <dc:creator>PptxGenJS</dc:creator>
  <cp:lastModifiedBy>Amatobi Emmanuel (amatoemm)</cp:lastModifiedBy>
  <cp:revision>3</cp:revision>
  <dcterms:created xsi:type="dcterms:W3CDTF">2026-05-24T13:09:35Z</dcterms:created>
  <dcterms:modified xsi:type="dcterms:W3CDTF">2026-05-24T13:19:07Z</dcterms:modified>
</cp:coreProperties>
</file>